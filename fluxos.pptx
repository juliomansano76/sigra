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1" r:id="rId2"/>
    <p:sldId id="262" r:id="rId3"/>
    <p:sldId id="263" r:id="rId4"/>
    <p:sldId id="264" r:id="rId5"/>
    <p:sldId id="265" r:id="rId6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C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291" autoAdjust="0"/>
  </p:normalViewPr>
  <p:slideViewPr>
    <p:cSldViewPr snapToGrid="0" showGuides="1">
      <p:cViewPr varScale="1">
        <p:scale>
          <a:sx n="72" d="100"/>
          <a:sy n="72" d="100"/>
        </p:scale>
        <p:origin x="660" y="7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87F944C-66ED-4531-AF03-08FD24CDE42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DA53380-6513-4CC3-9529-6C77751CBAF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577EB96-88AF-474C-AA55-E1A2505B1C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812DB-9852-44F8-AE06-772FC1EBDF6F}" type="datetimeFigureOut">
              <a:rPr lang="pt-BR" smtClean="0"/>
              <a:t>27/02/2026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5AF694D-BD8F-46BA-8649-54D00CB84C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24BA566-8295-43FF-A1A9-301C27582F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5C5905-40F6-4660-A75A-1BBE12EBDC4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114019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E7B0BBB-12D5-45E7-AA5C-9DC3A910D7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723D0A9-8E7B-4539-AEFA-B724974FF2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2E89B07-47FE-466F-91CD-EF79560936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812DB-9852-44F8-AE06-772FC1EBDF6F}" type="datetimeFigureOut">
              <a:rPr lang="pt-BR" smtClean="0"/>
              <a:t>27/02/2026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E34A70C-8213-4110-9BF5-D24D12930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F3C14A1-DD8A-4B2A-95C7-EBBC9E547A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5C5905-40F6-4660-A75A-1BBE12EBDC4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559658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DDDD475-6D42-4CEB-A4C5-BC31FA073D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DBCC1330-5684-4639-B134-9CCC0F858A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E2A28E7-9D27-4D48-AF0B-07A5C25556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812DB-9852-44F8-AE06-772FC1EBDF6F}" type="datetimeFigureOut">
              <a:rPr lang="pt-BR" smtClean="0"/>
              <a:t>27/02/2026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3688786-A835-464C-9BAD-03E2D09DB8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FB7BE64-5BCD-4219-BA18-2BDA056BCC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5C5905-40F6-4660-A75A-1BBE12EBDC4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020091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D1A611A-01B8-420C-ABB6-28E012C3CB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54FA393-59C3-4814-9E40-925350C1A93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9652D231-9120-4540-97B2-3A0071B343C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132FC05A-FB88-4D9D-BAD9-976D5E02D2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812DB-9852-44F8-AE06-772FC1EBDF6F}" type="datetimeFigureOut">
              <a:rPr lang="pt-BR" smtClean="0"/>
              <a:t>27/02/2026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F11F84D8-4E30-4D44-9ADC-BA4D1600C5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F2FBD387-3D0C-4A75-B649-E67E004B22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5C5905-40F6-4660-A75A-1BBE12EBDC4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254018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9AF95B4-601B-4207-BA0F-508C3A7CFE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AF90BF5-EF9D-4C00-A687-6B0255E4F5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D4639392-8EEB-473B-8FF4-B0DF59AEDD1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4F8DEE4C-B018-4D4D-8499-49F6BC5D2D8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3DFBEFC9-AD3B-4E82-9DBA-934FFDCD3B0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BCDEE002-FA45-4386-9164-6C23EA8242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812DB-9852-44F8-AE06-772FC1EBDF6F}" type="datetimeFigureOut">
              <a:rPr lang="pt-BR" smtClean="0"/>
              <a:t>27/02/2026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7D9F31A3-1645-477F-9BA9-719CEC963D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92369544-E87A-4A42-A1EE-A1DA5BEB34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5C5905-40F6-4660-A75A-1BBE12EBDC4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995147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9572F9E-873B-4F99-B736-7AD389BE7E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4350FD71-BA00-4765-AF0D-17012104F4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812DB-9852-44F8-AE06-772FC1EBDF6F}" type="datetimeFigureOut">
              <a:rPr lang="pt-BR" smtClean="0"/>
              <a:t>27/02/2026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2D7E093E-ABBD-46CF-B90E-7A7D951E84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18A7F244-CA8F-47E0-8A6A-B67FB77F4B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5C5905-40F6-4660-A75A-1BBE12EBDC4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256331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44917917-CB9B-4E3E-A28F-01153E16F3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812DB-9852-44F8-AE06-772FC1EBDF6F}" type="datetimeFigureOut">
              <a:rPr lang="pt-BR" smtClean="0"/>
              <a:t>27/02/2026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7C60B91D-B7D7-49B4-8DA8-00538B2245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42074149-79C7-42E7-B5FB-FBE513E5BD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5C5905-40F6-4660-A75A-1BBE12EBDC4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341903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CB422C6-311D-4071-BE5C-D747DB8F1F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D5FA46B-BB99-4F17-B11A-490FE44B3B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72973CA4-CD5D-4D1E-9AD1-BCEED71F64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09D0A27C-D6F9-4CD4-BD2B-AC31C065BB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812DB-9852-44F8-AE06-772FC1EBDF6F}" type="datetimeFigureOut">
              <a:rPr lang="pt-BR" smtClean="0"/>
              <a:t>27/02/2026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6CBAA920-B9FC-4397-B9A3-676EEC079B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8A8D6C01-9174-4096-B4D2-01629F7F4E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5C5905-40F6-4660-A75A-1BBE12EBDC4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274942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5C5E5DA-E6F9-409E-AC34-CE8E28DAA2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8B0F412E-B731-4A57-A97E-D423CA7D6C5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6D67106E-06C6-4B37-80B7-2C7D57BCB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DDB70F0D-738A-4915-BB4A-4A56E186EE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812DB-9852-44F8-AE06-772FC1EBDF6F}" type="datetimeFigureOut">
              <a:rPr lang="pt-BR" smtClean="0"/>
              <a:t>27/02/2026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12550DE-DD98-4166-9A50-DF50FB7E98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B65692BD-0124-4D19-8337-C651C52A2E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5C5905-40F6-4660-A75A-1BBE12EBDC4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959733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3C5D5B7-2702-44B8-AFB0-371770E2BD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91F12BE9-5C42-41C5-8EF6-9CD26E8EBE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64517F4-E734-4754-A7A4-D8CCC7BE2F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812DB-9852-44F8-AE06-772FC1EBDF6F}" type="datetimeFigureOut">
              <a:rPr lang="pt-BR" smtClean="0"/>
              <a:t>27/02/2026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D65124B-7145-45F1-9DB1-2C23240BBB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AA884DD-4735-4D7C-B728-AEA8A941FA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5C5905-40F6-4660-A75A-1BBE12EBDC4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362381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E6E5AAAA-2D65-406C-BB49-8AACF09546C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42B42B78-3306-479E-BF01-70DB2D0A8BD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72366A5-1586-48C1-9BCF-0735BAE980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812DB-9852-44F8-AE06-772FC1EBDF6F}" type="datetimeFigureOut">
              <a:rPr lang="pt-BR" smtClean="0"/>
              <a:t>27/02/2026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2BCAC49-7C46-4F73-85BE-269CF9B43A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DDD701C-6804-4693-AF94-D5CDA883A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5C5905-40F6-4660-A75A-1BBE12EBDC4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905296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5FA2158F-CE7E-4E1E-81CC-6CD65506E6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24DF7257-62A7-4F8A-AB94-DA1966F451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C29C615-8096-41B3-9FAD-57619DFA6F6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4812DB-9852-44F8-AE06-772FC1EBDF6F}" type="datetimeFigureOut">
              <a:rPr lang="pt-BR" smtClean="0"/>
              <a:t>27/02/2026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8B76C7E-817B-48E9-8B72-3962388E12B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041D90F-CC1B-4C1E-B207-22BD8AC2F2C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5C5905-40F6-4660-A75A-1BBE12EBDC4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863635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EC4F1F78-157C-4BAA-BF19-3FFAAB6D990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000" t="13122" r="5000" b="12445"/>
          <a:stretch/>
        </p:blipFill>
        <p:spPr>
          <a:xfrm>
            <a:off x="0" y="0"/>
            <a:ext cx="12169832" cy="6858000"/>
          </a:xfrm>
          <a:prstGeom prst="rect">
            <a:avLst/>
          </a:prstGeom>
        </p:spPr>
      </p:pic>
      <p:sp>
        <p:nvSpPr>
          <p:cNvPr id="5" name="Elipse 4">
            <a:extLst>
              <a:ext uri="{FF2B5EF4-FFF2-40B4-BE49-F238E27FC236}">
                <a16:creationId xmlns:a16="http://schemas.microsoft.com/office/drawing/2014/main" id="{778EF246-68C3-4686-A7F3-42DD0805F97E}"/>
              </a:ext>
            </a:extLst>
          </p:cNvPr>
          <p:cNvSpPr/>
          <p:nvPr/>
        </p:nvSpPr>
        <p:spPr>
          <a:xfrm>
            <a:off x="1751106" y="890494"/>
            <a:ext cx="179294" cy="179294"/>
          </a:xfrm>
          <a:prstGeom prst="ellipse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Elipse 8">
            <a:extLst>
              <a:ext uri="{FF2B5EF4-FFF2-40B4-BE49-F238E27FC236}">
                <a16:creationId xmlns:a16="http://schemas.microsoft.com/office/drawing/2014/main" id="{0700C5BC-96B7-4253-9136-B05AE7ACA097}"/>
              </a:ext>
            </a:extLst>
          </p:cNvPr>
          <p:cNvSpPr/>
          <p:nvPr/>
        </p:nvSpPr>
        <p:spPr>
          <a:xfrm>
            <a:off x="1751106" y="1535953"/>
            <a:ext cx="179294" cy="179294"/>
          </a:xfrm>
          <a:prstGeom prst="ellipse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Elipse 9">
            <a:extLst>
              <a:ext uri="{FF2B5EF4-FFF2-40B4-BE49-F238E27FC236}">
                <a16:creationId xmlns:a16="http://schemas.microsoft.com/office/drawing/2014/main" id="{CC1B5DF5-1F0D-4A30-99D7-73A5965B4C15}"/>
              </a:ext>
            </a:extLst>
          </p:cNvPr>
          <p:cNvSpPr/>
          <p:nvPr/>
        </p:nvSpPr>
        <p:spPr>
          <a:xfrm>
            <a:off x="2934447" y="1535953"/>
            <a:ext cx="179294" cy="179294"/>
          </a:xfrm>
          <a:prstGeom prst="ellipse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Elipse 10">
            <a:extLst>
              <a:ext uri="{FF2B5EF4-FFF2-40B4-BE49-F238E27FC236}">
                <a16:creationId xmlns:a16="http://schemas.microsoft.com/office/drawing/2014/main" id="{A5779B00-FD07-4EE6-AE62-4FA369AF840A}"/>
              </a:ext>
            </a:extLst>
          </p:cNvPr>
          <p:cNvSpPr/>
          <p:nvPr/>
        </p:nvSpPr>
        <p:spPr>
          <a:xfrm>
            <a:off x="3514165" y="1529976"/>
            <a:ext cx="179294" cy="179294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Elipse 11">
            <a:extLst>
              <a:ext uri="{FF2B5EF4-FFF2-40B4-BE49-F238E27FC236}">
                <a16:creationId xmlns:a16="http://schemas.microsoft.com/office/drawing/2014/main" id="{213532DF-17F2-4FBC-A7B5-89CE0E0342D3}"/>
              </a:ext>
            </a:extLst>
          </p:cNvPr>
          <p:cNvSpPr/>
          <p:nvPr/>
        </p:nvSpPr>
        <p:spPr>
          <a:xfrm>
            <a:off x="4297083" y="902446"/>
            <a:ext cx="179294" cy="179294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Elipse 12">
            <a:extLst>
              <a:ext uri="{FF2B5EF4-FFF2-40B4-BE49-F238E27FC236}">
                <a16:creationId xmlns:a16="http://schemas.microsoft.com/office/drawing/2014/main" id="{A4A6DC8A-AEEE-4C5E-B347-CBBF3B31D9EE}"/>
              </a:ext>
            </a:extLst>
          </p:cNvPr>
          <p:cNvSpPr/>
          <p:nvPr/>
        </p:nvSpPr>
        <p:spPr>
          <a:xfrm>
            <a:off x="4864848" y="890494"/>
            <a:ext cx="179294" cy="179294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Elipse 13">
            <a:extLst>
              <a:ext uri="{FF2B5EF4-FFF2-40B4-BE49-F238E27FC236}">
                <a16:creationId xmlns:a16="http://schemas.microsoft.com/office/drawing/2014/main" id="{2396B7B2-B380-4A97-917D-6D1BF8384E59}"/>
              </a:ext>
            </a:extLst>
          </p:cNvPr>
          <p:cNvSpPr/>
          <p:nvPr/>
        </p:nvSpPr>
        <p:spPr>
          <a:xfrm>
            <a:off x="5508186" y="902446"/>
            <a:ext cx="179294" cy="179294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5" name="Elipse 14">
            <a:extLst>
              <a:ext uri="{FF2B5EF4-FFF2-40B4-BE49-F238E27FC236}">
                <a16:creationId xmlns:a16="http://schemas.microsoft.com/office/drawing/2014/main" id="{1E24B3E5-C9AA-4232-B034-20DCCBCD96C0}"/>
              </a:ext>
            </a:extLst>
          </p:cNvPr>
          <p:cNvSpPr/>
          <p:nvPr/>
        </p:nvSpPr>
        <p:spPr>
          <a:xfrm>
            <a:off x="6167718" y="310776"/>
            <a:ext cx="179294" cy="179294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" name="Elipse 15">
            <a:extLst>
              <a:ext uri="{FF2B5EF4-FFF2-40B4-BE49-F238E27FC236}">
                <a16:creationId xmlns:a16="http://schemas.microsoft.com/office/drawing/2014/main" id="{5332FBEF-8344-41CA-8E61-1660ADF96DCE}"/>
              </a:ext>
            </a:extLst>
          </p:cNvPr>
          <p:cNvSpPr/>
          <p:nvPr/>
        </p:nvSpPr>
        <p:spPr>
          <a:xfrm>
            <a:off x="3514165" y="2850776"/>
            <a:ext cx="179294" cy="179294"/>
          </a:xfrm>
          <a:prstGeom prst="ellipse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7" name="Elipse 16">
            <a:extLst>
              <a:ext uri="{FF2B5EF4-FFF2-40B4-BE49-F238E27FC236}">
                <a16:creationId xmlns:a16="http://schemas.microsoft.com/office/drawing/2014/main" id="{63AFFCAA-E1F0-4EA7-8C94-97811E6BE1E3}"/>
              </a:ext>
            </a:extLst>
          </p:cNvPr>
          <p:cNvSpPr/>
          <p:nvPr/>
        </p:nvSpPr>
        <p:spPr>
          <a:xfrm>
            <a:off x="8821272" y="5187576"/>
            <a:ext cx="179294" cy="179294"/>
          </a:xfrm>
          <a:prstGeom prst="ellipse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8" name="Elipse 17">
            <a:extLst>
              <a:ext uri="{FF2B5EF4-FFF2-40B4-BE49-F238E27FC236}">
                <a16:creationId xmlns:a16="http://schemas.microsoft.com/office/drawing/2014/main" id="{0340D145-A57A-476B-9EB1-65E78F279720}"/>
              </a:ext>
            </a:extLst>
          </p:cNvPr>
          <p:cNvSpPr/>
          <p:nvPr/>
        </p:nvSpPr>
        <p:spPr>
          <a:xfrm>
            <a:off x="9356165" y="5277223"/>
            <a:ext cx="179294" cy="179294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752853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Retângulo 54">
            <a:extLst>
              <a:ext uri="{FF2B5EF4-FFF2-40B4-BE49-F238E27FC236}">
                <a16:creationId xmlns:a16="http://schemas.microsoft.com/office/drawing/2014/main" id="{8FE39AF9-0F56-463E-9604-8DF4229FBA15}"/>
              </a:ext>
            </a:extLst>
          </p:cNvPr>
          <p:cNvSpPr/>
          <p:nvPr/>
        </p:nvSpPr>
        <p:spPr>
          <a:xfrm>
            <a:off x="-278296" y="4754220"/>
            <a:ext cx="12470296" cy="1767271"/>
          </a:xfrm>
          <a:prstGeom prst="rect">
            <a:avLst/>
          </a:prstGeom>
          <a:solidFill>
            <a:srgbClr val="FFC000">
              <a:alpha val="2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47" name="Retângulo 46">
            <a:extLst>
              <a:ext uri="{FF2B5EF4-FFF2-40B4-BE49-F238E27FC236}">
                <a16:creationId xmlns:a16="http://schemas.microsoft.com/office/drawing/2014/main" id="{CF555F28-A4FA-4122-903A-B91AE2173000}"/>
              </a:ext>
            </a:extLst>
          </p:cNvPr>
          <p:cNvSpPr/>
          <p:nvPr/>
        </p:nvSpPr>
        <p:spPr>
          <a:xfrm>
            <a:off x="-278296" y="1099928"/>
            <a:ext cx="12470296" cy="1767271"/>
          </a:xfrm>
          <a:prstGeom prst="rect">
            <a:avLst/>
          </a:prstGeom>
          <a:solidFill>
            <a:srgbClr val="FFC000">
              <a:alpha val="2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4" name="Losango 3">
            <a:extLst>
              <a:ext uri="{FF2B5EF4-FFF2-40B4-BE49-F238E27FC236}">
                <a16:creationId xmlns:a16="http://schemas.microsoft.com/office/drawing/2014/main" id="{32E18CC6-1491-4320-8344-ECA2BB1EB246}"/>
              </a:ext>
            </a:extLst>
          </p:cNvPr>
          <p:cNvSpPr/>
          <p:nvPr/>
        </p:nvSpPr>
        <p:spPr>
          <a:xfrm>
            <a:off x="331304" y="3495261"/>
            <a:ext cx="742121" cy="742121"/>
          </a:xfrm>
          <a:prstGeom prst="diamon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900" dirty="0"/>
              <a:t>Dev?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6915B6A3-7797-49A0-92B4-47AB6C34BDF4}"/>
              </a:ext>
            </a:extLst>
          </p:cNvPr>
          <p:cNvSpPr/>
          <p:nvPr/>
        </p:nvSpPr>
        <p:spPr>
          <a:xfrm>
            <a:off x="1033669" y="1683024"/>
            <a:ext cx="1258956" cy="86139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100"/>
              <a:t>Confirmar</a:t>
            </a:r>
          </a:p>
          <a:p>
            <a:r>
              <a:rPr lang="pt-BR" sz="1100"/>
              <a:t>quantidade</a:t>
            </a:r>
          </a:p>
          <a:p>
            <a:r>
              <a:rPr lang="pt-BR" sz="1100"/>
              <a:t>(contato cliente /</a:t>
            </a:r>
          </a:p>
          <a:p>
            <a:r>
              <a:rPr lang="pt-BR" sz="1100"/>
              <a:t>estimativa)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5E4DBBD0-BFCA-4C8A-B74E-AEC2A302B60C}"/>
              </a:ext>
            </a:extLst>
          </p:cNvPr>
          <p:cNvSpPr/>
          <p:nvPr/>
        </p:nvSpPr>
        <p:spPr>
          <a:xfrm>
            <a:off x="2663686" y="1683024"/>
            <a:ext cx="1258956" cy="86139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100" dirty="0"/>
              <a:t>Cotação 3 fretes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E5735AC6-ACA2-48CF-AFD9-2A91733FAA89}"/>
              </a:ext>
            </a:extLst>
          </p:cNvPr>
          <p:cNvSpPr/>
          <p:nvPr/>
        </p:nvSpPr>
        <p:spPr>
          <a:xfrm>
            <a:off x="4293703" y="1683024"/>
            <a:ext cx="1258956" cy="86139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pt-BR" sz="1100" dirty="0"/>
              <a:t>Envio dos dados da</a:t>
            </a:r>
          </a:p>
          <a:p>
            <a:r>
              <a:rPr lang="pt-BR" sz="1100" dirty="0"/>
              <a:t>transportadora</a:t>
            </a:r>
          </a:p>
          <a:p>
            <a:r>
              <a:rPr lang="pt-BR" sz="1100" dirty="0"/>
              <a:t>escolhida para</a:t>
            </a:r>
          </a:p>
          <a:p>
            <a:r>
              <a:rPr lang="pt-BR" sz="1100" dirty="0"/>
              <a:t>Cliente 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3BB8C3BA-4E13-46F2-A0EB-BD7F31EAB897}"/>
              </a:ext>
            </a:extLst>
          </p:cNvPr>
          <p:cNvSpPr/>
          <p:nvPr/>
        </p:nvSpPr>
        <p:spPr>
          <a:xfrm>
            <a:off x="5685181" y="238537"/>
            <a:ext cx="1258956" cy="86139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pt-BR" sz="1100" dirty="0"/>
              <a:t>Cliente envia NF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40F19CD8-9B1A-4048-AE92-8CAF6C3631FF}"/>
              </a:ext>
            </a:extLst>
          </p:cNvPr>
          <p:cNvSpPr/>
          <p:nvPr/>
        </p:nvSpPr>
        <p:spPr>
          <a:xfrm>
            <a:off x="7381460" y="1683024"/>
            <a:ext cx="1258956" cy="86139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pt-BR" sz="1100" dirty="0"/>
              <a:t>Recebe a NF e envia</a:t>
            </a:r>
          </a:p>
          <a:p>
            <a:r>
              <a:rPr lang="pt-BR" sz="1100" dirty="0"/>
              <a:t>para Fiscal</a:t>
            </a:r>
          </a:p>
        </p:txBody>
      </p:sp>
      <p:sp>
        <p:nvSpPr>
          <p:cNvPr id="10" name="Losango 9">
            <a:extLst>
              <a:ext uri="{FF2B5EF4-FFF2-40B4-BE49-F238E27FC236}">
                <a16:creationId xmlns:a16="http://schemas.microsoft.com/office/drawing/2014/main" id="{ADF69D9D-762E-46DB-A190-6BD39430CADE}"/>
              </a:ext>
            </a:extLst>
          </p:cNvPr>
          <p:cNvSpPr/>
          <p:nvPr/>
        </p:nvSpPr>
        <p:spPr>
          <a:xfrm>
            <a:off x="6202016" y="5231296"/>
            <a:ext cx="742121" cy="742121"/>
          </a:xfrm>
          <a:prstGeom prst="diamon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900" dirty="0"/>
              <a:t>NF OK??</a:t>
            </a:r>
          </a:p>
        </p:txBody>
      </p:sp>
      <p:cxnSp>
        <p:nvCxnSpPr>
          <p:cNvPr id="14" name="Conector: Angulado 13">
            <a:extLst>
              <a:ext uri="{FF2B5EF4-FFF2-40B4-BE49-F238E27FC236}">
                <a16:creationId xmlns:a16="http://schemas.microsoft.com/office/drawing/2014/main" id="{DC9109FE-752A-40F9-B942-CC8713971765}"/>
              </a:ext>
            </a:extLst>
          </p:cNvPr>
          <p:cNvCxnSpPr>
            <a:stCxn id="4" idx="0"/>
            <a:endCxn id="5" idx="1"/>
          </p:cNvCxnSpPr>
          <p:nvPr/>
        </p:nvCxnSpPr>
        <p:spPr>
          <a:xfrm rot="5400000" flipH="1" flipV="1">
            <a:off x="177247" y="2638839"/>
            <a:ext cx="1381541" cy="331304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50BD9872-5969-4D1F-90EF-6B61E1DFE83C}"/>
              </a:ext>
            </a:extLst>
          </p:cNvPr>
          <p:cNvSpPr txBox="1"/>
          <p:nvPr/>
        </p:nvSpPr>
        <p:spPr>
          <a:xfrm>
            <a:off x="132521" y="1941754"/>
            <a:ext cx="7288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Sim</a:t>
            </a:r>
          </a:p>
        </p:txBody>
      </p:sp>
      <p:cxnSp>
        <p:nvCxnSpPr>
          <p:cNvPr id="16" name="Conector: Angulado 15">
            <a:extLst>
              <a:ext uri="{FF2B5EF4-FFF2-40B4-BE49-F238E27FC236}">
                <a16:creationId xmlns:a16="http://schemas.microsoft.com/office/drawing/2014/main" id="{09221D34-5CAF-4260-914A-AC0451813345}"/>
              </a:ext>
            </a:extLst>
          </p:cNvPr>
          <p:cNvCxnSpPr>
            <a:cxnSpLocks/>
            <a:stCxn id="5" idx="3"/>
            <a:endCxn id="6" idx="1"/>
          </p:cNvCxnSpPr>
          <p:nvPr/>
        </p:nvCxnSpPr>
        <p:spPr>
          <a:xfrm>
            <a:off x="2292625" y="2113720"/>
            <a:ext cx="371061" cy="12700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ector: Angulado 18">
            <a:extLst>
              <a:ext uri="{FF2B5EF4-FFF2-40B4-BE49-F238E27FC236}">
                <a16:creationId xmlns:a16="http://schemas.microsoft.com/office/drawing/2014/main" id="{FA58B368-2557-4F60-A403-F4086970D384}"/>
              </a:ext>
            </a:extLst>
          </p:cNvPr>
          <p:cNvCxnSpPr>
            <a:cxnSpLocks/>
            <a:stCxn id="6" idx="3"/>
            <a:endCxn id="7" idx="1"/>
          </p:cNvCxnSpPr>
          <p:nvPr/>
        </p:nvCxnSpPr>
        <p:spPr>
          <a:xfrm>
            <a:off x="3922642" y="2113720"/>
            <a:ext cx="371061" cy="12700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ector: Angulado 21">
            <a:extLst>
              <a:ext uri="{FF2B5EF4-FFF2-40B4-BE49-F238E27FC236}">
                <a16:creationId xmlns:a16="http://schemas.microsoft.com/office/drawing/2014/main" id="{24D65D72-F904-4209-A79A-C42D9E5C3F9B}"/>
              </a:ext>
            </a:extLst>
          </p:cNvPr>
          <p:cNvCxnSpPr>
            <a:cxnSpLocks/>
            <a:stCxn id="7" idx="0"/>
            <a:endCxn id="8" idx="1"/>
          </p:cNvCxnSpPr>
          <p:nvPr/>
        </p:nvCxnSpPr>
        <p:spPr>
          <a:xfrm rot="5400000" flipH="1" flipV="1">
            <a:off x="4797286" y="795129"/>
            <a:ext cx="1013791" cy="762000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ector: Angulado 24">
            <a:extLst>
              <a:ext uri="{FF2B5EF4-FFF2-40B4-BE49-F238E27FC236}">
                <a16:creationId xmlns:a16="http://schemas.microsoft.com/office/drawing/2014/main" id="{FFE93A6F-DB60-48D4-ACE7-F8A11530A388}"/>
              </a:ext>
            </a:extLst>
          </p:cNvPr>
          <p:cNvCxnSpPr>
            <a:cxnSpLocks/>
            <a:stCxn id="8" idx="3"/>
            <a:endCxn id="9" idx="0"/>
          </p:cNvCxnSpPr>
          <p:nvPr/>
        </p:nvCxnSpPr>
        <p:spPr>
          <a:xfrm>
            <a:off x="6944137" y="669233"/>
            <a:ext cx="1066801" cy="1013791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ector: Angulado 27">
            <a:extLst>
              <a:ext uri="{FF2B5EF4-FFF2-40B4-BE49-F238E27FC236}">
                <a16:creationId xmlns:a16="http://schemas.microsoft.com/office/drawing/2014/main" id="{AF44F646-B5BE-4A5A-804A-A66FC1F31A94}"/>
              </a:ext>
            </a:extLst>
          </p:cNvPr>
          <p:cNvCxnSpPr>
            <a:cxnSpLocks/>
            <a:endCxn id="10" idx="0"/>
          </p:cNvCxnSpPr>
          <p:nvPr/>
        </p:nvCxnSpPr>
        <p:spPr>
          <a:xfrm rot="5400000">
            <a:off x="5928691" y="3188803"/>
            <a:ext cx="2686879" cy="1398106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ector: Angulado 30">
            <a:extLst>
              <a:ext uri="{FF2B5EF4-FFF2-40B4-BE49-F238E27FC236}">
                <a16:creationId xmlns:a16="http://schemas.microsoft.com/office/drawing/2014/main" id="{2A850C15-1741-41BD-BEF0-1E000E76223D}"/>
              </a:ext>
            </a:extLst>
          </p:cNvPr>
          <p:cNvCxnSpPr>
            <a:cxnSpLocks/>
            <a:stCxn id="10" idx="1"/>
            <a:endCxn id="7" idx="2"/>
          </p:cNvCxnSpPr>
          <p:nvPr/>
        </p:nvCxnSpPr>
        <p:spPr>
          <a:xfrm rot="10800000">
            <a:off x="4923182" y="2544415"/>
            <a:ext cx="1278835" cy="3057942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CaixaDeTexto 34">
            <a:extLst>
              <a:ext uri="{FF2B5EF4-FFF2-40B4-BE49-F238E27FC236}">
                <a16:creationId xmlns:a16="http://schemas.microsoft.com/office/drawing/2014/main" id="{1814E525-022B-4FD0-9119-237FB066C01D}"/>
              </a:ext>
            </a:extLst>
          </p:cNvPr>
          <p:cNvSpPr txBox="1"/>
          <p:nvPr/>
        </p:nvSpPr>
        <p:spPr>
          <a:xfrm>
            <a:off x="5029201" y="5155961"/>
            <a:ext cx="7288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Não</a:t>
            </a:r>
          </a:p>
        </p:txBody>
      </p:sp>
      <p:sp>
        <p:nvSpPr>
          <p:cNvPr id="36" name="CaixaDeTexto 35">
            <a:extLst>
              <a:ext uri="{FF2B5EF4-FFF2-40B4-BE49-F238E27FC236}">
                <a16:creationId xmlns:a16="http://schemas.microsoft.com/office/drawing/2014/main" id="{F4E68990-D1AC-4F0F-9563-5B929B296A42}"/>
              </a:ext>
            </a:extLst>
          </p:cNvPr>
          <p:cNvSpPr txBox="1"/>
          <p:nvPr/>
        </p:nvSpPr>
        <p:spPr>
          <a:xfrm>
            <a:off x="4512364" y="5650251"/>
            <a:ext cx="180229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Retorna para correção</a:t>
            </a:r>
          </a:p>
        </p:txBody>
      </p:sp>
      <p:sp>
        <p:nvSpPr>
          <p:cNvPr id="48" name="CaixaDeTexto 47">
            <a:extLst>
              <a:ext uri="{FF2B5EF4-FFF2-40B4-BE49-F238E27FC236}">
                <a16:creationId xmlns:a16="http://schemas.microsoft.com/office/drawing/2014/main" id="{03D7AEC1-345E-4269-A4B8-4E5B21A18C28}"/>
              </a:ext>
            </a:extLst>
          </p:cNvPr>
          <p:cNvSpPr txBox="1"/>
          <p:nvPr/>
        </p:nvSpPr>
        <p:spPr>
          <a:xfrm>
            <a:off x="11463131" y="1114046"/>
            <a:ext cx="7288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SAC</a:t>
            </a:r>
          </a:p>
        </p:txBody>
      </p:sp>
      <p:sp>
        <p:nvSpPr>
          <p:cNvPr id="51" name="Retângulo 50">
            <a:extLst>
              <a:ext uri="{FF2B5EF4-FFF2-40B4-BE49-F238E27FC236}">
                <a16:creationId xmlns:a16="http://schemas.microsoft.com/office/drawing/2014/main" id="{5BB6F7A7-067E-4E90-8886-563A6FE5C047}"/>
              </a:ext>
            </a:extLst>
          </p:cNvPr>
          <p:cNvSpPr/>
          <p:nvPr/>
        </p:nvSpPr>
        <p:spPr>
          <a:xfrm>
            <a:off x="9077738" y="1695724"/>
            <a:ext cx="1258956" cy="86139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pt-BR" sz="1100" dirty="0"/>
              <a:t>Solicitar Coleta</a:t>
            </a:r>
          </a:p>
        </p:txBody>
      </p:sp>
      <p:cxnSp>
        <p:nvCxnSpPr>
          <p:cNvPr id="52" name="Conector: Angulado 51">
            <a:extLst>
              <a:ext uri="{FF2B5EF4-FFF2-40B4-BE49-F238E27FC236}">
                <a16:creationId xmlns:a16="http://schemas.microsoft.com/office/drawing/2014/main" id="{CA82A430-7218-4978-BF30-FB10ACCCA9FC}"/>
              </a:ext>
            </a:extLst>
          </p:cNvPr>
          <p:cNvCxnSpPr>
            <a:cxnSpLocks/>
            <a:stCxn id="10" idx="3"/>
          </p:cNvCxnSpPr>
          <p:nvPr/>
        </p:nvCxnSpPr>
        <p:spPr>
          <a:xfrm flipV="1">
            <a:off x="6944137" y="2358886"/>
            <a:ext cx="2763079" cy="3243471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CaixaDeTexto 55">
            <a:extLst>
              <a:ext uri="{FF2B5EF4-FFF2-40B4-BE49-F238E27FC236}">
                <a16:creationId xmlns:a16="http://schemas.microsoft.com/office/drawing/2014/main" id="{38712C06-13A6-4821-953B-6C085024F332}"/>
              </a:ext>
            </a:extLst>
          </p:cNvPr>
          <p:cNvSpPr txBox="1"/>
          <p:nvPr/>
        </p:nvSpPr>
        <p:spPr>
          <a:xfrm>
            <a:off x="11463131" y="4779859"/>
            <a:ext cx="7288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Fiscal</a:t>
            </a:r>
          </a:p>
        </p:txBody>
      </p:sp>
      <p:sp>
        <p:nvSpPr>
          <p:cNvPr id="57" name="Retângulo 56">
            <a:extLst>
              <a:ext uri="{FF2B5EF4-FFF2-40B4-BE49-F238E27FC236}">
                <a16:creationId xmlns:a16="http://schemas.microsoft.com/office/drawing/2014/main" id="{DB78027E-F6AC-43C7-B1AF-424833899B57}"/>
              </a:ext>
            </a:extLst>
          </p:cNvPr>
          <p:cNvSpPr/>
          <p:nvPr/>
        </p:nvSpPr>
        <p:spPr>
          <a:xfrm>
            <a:off x="-278296" y="2872409"/>
            <a:ext cx="12470296" cy="1767271"/>
          </a:xfrm>
          <a:prstGeom prst="rect">
            <a:avLst/>
          </a:prstGeom>
          <a:solidFill>
            <a:srgbClr val="FFC000">
              <a:alpha val="2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58" name="CaixaDeTexto 57">
            <a:extLst>
              <a:ext uri="{FF2B5EF4-FFF2-40B4-BE49-F238E27FC236}">
                <a16:creationId xmlns:a16="http://schemas.microsoft.com/office/drawing/2014/main" id="{40A710F2-9467-4E2A-AC3B-F3CA5AA9D657}"/>
              </a:ext>
            </a:extLst>
          </p:cNvPr>
          <p:cNvSpPr txBox="1"/>
          <p:nvPr/>
        </p:nvSpPr>
        <p:spPr>
          <a:xfrm>
            <a:off x="10866783" y="2867199"/>
            <a:ext cx="13252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Comercial</a:t>
            </a:r>
          </a:p>
        </p:txBody>
      </p:sp>
    </p:spTree>
    <p:extLst>
      <p:ext uri="{BB962C8B-B14F-4D97-AF65-F5344CB8AC3E}">
        <p14:creationId xmlns:p14="http://schemas.microsoft.com/office/powerpoint/2010/main" val="25636387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0AC49AE6-97CD-4742-9501-960946C5A64C}"/>
              </a:ext>
            </a:extLst>
          </p:cNvPr>
          <p:cNvSpPr/>
          <p:nvPr/>
        </p:nvSpPr>
        <p:spPr>
          <a:xfrm>
            <a:off x="0" y="4264"/>
            <a:ext cx="12470296" cy="1150094"/>
          </a:xfrm>
          <a:prstGeom prst="rect">
            <a:avLst/>
          </a:prstGeom>
          <a:solidFill>
            <a:srgbClr val="FFC000">
              <a:alpha val="2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5749E243-B7E7-448E-B164-5C1DEE786AB0}"/>
              </a:ext>
            </a:extLst>
          </p:cNvPr>
          <p:cNvSpPr txBox="1"/>
          <p:nvPr/>
        </p:nvSpPr>
        <p:spPr>
          <a:xfrm>
            <a:off x="11741427" y="18381"/>
            <a:ext cx="7288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SAC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E822778C-A5CE-434F-83DB-21CEAED9E1CE}"/>
              </a:ext>
            </a:extLst>
          </p:cNvPr>
          <p:cNvSpPr/>
          <p:nvPr/>
        </p:nvSpPr>
        <p:spPr>
          <a:xfrm>
            <a:off x="821634" y="193105"/>
            <a:ext cx="1258956" cy="861391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pt-BR" sz="1100" dirty="0"/>
              <a:t>Solicitar Coleta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A91BFD5E-318B-4A79-B5AA-09172B8247F7}"/>
              </a:ext>
            </a:extLst>
          </p:cNvPr>
          <p:cNvSpPr/>
          <p:nvPr/>
        </p:nvSpPr>
        <p:spPr>
          <a:xfrm>
            <a:off x="0" y="1154358"/>
            <a:ext cx="12470296" cy="1150094"/>
          </a:xfrm>
          <a:prstGeom prst="rect">
            <a:avLst/>
          </a:prstGeom>
          <a:solidFill>
            <a:srgbClr val="FFC000">
              <a:alpha val="2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D15A12B1-EC02-434C-B4DE-C1F208B3235F}"/>
              </a:ext>
            </a:extLst>
          </p:cNvPr>
          <p:cNvSpPr txBox="1"/>
          <p:nvPr/>
        </p:nvSpPr>
        <p:spPr>
          <a:xfrm>
            <a:off x="11025809" y="1154357"/>
            <a:ext cx="14444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EXPEDIÇÃO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5DC81A16-808E-429D-8395-9D7F99BEA937}"/>
              </a:ext>
            </a:extLst>
          </p:cNvPr>
          <p:cNvSpPr/>
          <p:nvPr/>
        </p:nvSpPr>
        <p:spPr>
          <a:xfrm>
            <a:off x="821634" y="1290273"/>
            <a:ext cx="1258956" cy="86139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pt-BR" sz="1100" dirty="0"/>
              <a:t>Recebe e confere material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FACFEECF-62B6-422B-AEDE-0BCAE0A66CC0}"/>
              </a:ext>
            </a:extLst>
          </p:cNvPr>
          <p:cNvSpPr/>
          <p:nvPr/>
        </p:nvSpPr>
        <p:spPr>
          <a:xfrm>
            <a:off x="0" y="2304452"/>
            <a:ext cx="12470296" cy="1150094"/>
          </a:xfrm>
          <a:prstGeom prst="rect">
            <a:avLst/>
          </a:prstGeom>
          <a:solidFill>
            <a:srgbClr val="FFC000">
              <a:alpha val="2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D0822A54-1F13-4D91-97ED-71C7702BC638}"/>
              </a:ext>
            </a:extLst>
          </p:cNvPr>
          <p:cNvSpPr/>
          <p:nvPr/>
        </p:nvSpPr>
        <p:spPr>
          <a:xfrm>
            <a:off x="821634" y="2462921"/>
            <a:ext cx="1258956" cy="86139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pt-BR" sz="1100" dirty="0"/>
              <a:t>Revisa o material e gera romaneio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D51BD30B-8AE9-4FC6-A863-B8CAFC67A7CC}"/>
              </a:ext>
            </a:extLst>
          </p:cNvPr>
          <p:cNvSpPr txBox="1"/>
          <p:nvPr/>
        </p:nvSpPr>
        <p:spPr>
          <a:xfrm>
            <a:off x="11025809" y="2397051"/>
            <a:ext cx="14444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Revisão</a:t>
            </a:r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8CDBF14F-543B-4B22-991C-54FA3E32128E}"/>
              </a:ext>
            </a:extLst>
          </p:cNvPr>
          <p:cNvSpPr/>
          <p:nvPr/>
        </p:nvSpPr>
        <p:spPr>
          <a:xfrm>
            <a:off x="0" y="3454546"/>
            <a:ext cx="12470296" cy="1150094"/>
          </a:xfrm>
          <a:prstGeom prst="rect">
            <a:avLst/>
          </a:prstGeom>
          <a:solidFill>
            <a:srgbClr val="FFC000">
              <a:alpha val="2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535D7E1C-1DE5-4210-96B6-0CC0161924F7}"/>
              </a:ext>
            </a:extLst>
          </p:cNvPr>
          <p:cNvSpPr/>
          <p:nvPr/>
        </p:nvSpPr>
        <p:spPr>
          <a:xfrm>
            <a:off x="821634" y="3651824"/>
            <a:ext cx="1258956" cy="86139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pt-BR" sz="1100" dirty="0"/>
              <a:t>Cria OF, envia para Fiscal</a:t>
            </a: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EE0133A8-34E2-43FE-BBE9-A393FC72D6C6}"/>
              </a:ext>
            </a:extLst>
          </p:cNvPr>
          <p:cNvSpPr txBox="1"/>
          <p:nvPr/>
        </p:nvSpPr>
        <p:spPr>
          <a:xfrm>
            <a:off x="11025809" y="3547145"/>
            <a:ext cx="14444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PCP</a:t>
            </a:r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06A06D8A-15AB-4C78-9457-664169ACE827}"/>
              </a:ext>
            </a:extLst>
          </p:cNvPr>
          <p:cNvSpPr/>
          <p:nvPr/>
        </p:nvSpPr>
        <p:spPr>
          <a:xfrm>
            <a:off x="0" y="4604640"/>
            <a:ext cx="12470296" cy="1150094"/>
          </a:xfrm>
          <a:prstGeom prst="rect">
            <a:avLst/>
          </a:prstGeom>
          <a:solidFill>
            <a:srgbClr val="FFC000">
              <a:alpha val="2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5969CC6D-B76C-4ABE-938D-9F7CAF196928}"/>
              </a:ext>
            </a:extLst>
          </p:cNvPr>
          <p:cNvSpPr txBox="1"/>
          <p:nvPr/>
        </p:nvSpPr>
        <p:spPr>
          <a:xfrm>
            <a:off x="11025809" y="4697239"/>
            <a:ext cx="14444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Fiscal</a:t>
            </a:r>
          </a:p>
        </p:txBody>
      </p:sp>
      <p:sp>
        <p:nvSpPr>
          <p:cNvPr id="20" name="Losango 19">
            <a:extLst>
              <a:ext uri="{FF2B5EF4-FFF2-40B4-BE49-F238E27FC236}">
                <a16:creationId xmlns:a16="http://schemas.microsoft.com/office/drawing/2014/main" id="{33870156-7DC9-405F-8476-141CE29B1925}"/>
              </a:ext>
            </a:extLst>
          </p:cNvPr>
          <p:cNvSpPr/>
          <p:nvPr/>
        </p:nvSpPr>
        <p:spPr>
          <a:xfrm>
            <a:off x="3220276" y="4801918"/>
            <a:ext cx="1338471" cy="742121"/>
          </a:xfrm>
          <a:prstGeom prst="diamon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900" dirty="0"/>
              <a:t>NF Romaneio OK?</a:t>
            </a:r>
          </a:p>
        </p:txBody>
      </p:sp>
      <p:cxnSp>
        <p:nvCxnSpPr>
          <p:cNvPr id="22" name="Conector: Angulado 21">
            <a:extLst>
              <a:ext uri="{FF2B5EF4-FFF2-40B4-BE49-F238E27FC236}">
                <a16:creationId xmlns:a16="http://schemas.microsoft.com/office/drawing/2014/main" id="{FE21E278-28FF-4351-9826-5E7765A0B821}"/>
              </a:ext>
            </a:extLst>
          </p:cNvPr>
          <p:cNvCxnSpPr>
            <a:stCxn id="6" idx="2"/>
            <a:endCxn id="10" idx="0"/>
          </p:cNvCxnSpPr>
          <p:nvPr/>
        </p:nvCxnSpPr>
        <p:spPr>
          <a:xfrm rot="5400000">
            <a:off x="1333224" y="1172384"/>
            <a:ext cx="235777" cy="12700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ector: Angulado 23">
            <a:extLst>
              <a:ext uri="{FF2B5EF4-FFF2-40B4-BE49-F238E27FC236}">
                <a16:creationId xmlns:a16="http://schemas.microsoft.com/office/drawing/2014/main" id="{DF207B94-1CF4-4E61-BA4C-3C6B7C3B251C}"/>
              </a:ext>
            </a:extLst>
          </p:cNvPr>
          <p:cNvCxnSpPr>
            <a:stCxn id="10" idx="2"/>
            <a:endCxn id="12" idx="0"/>
          </p:cNvCxnSpPr>
          <p:nvPr/>
        </p:nvCxnSpPr>
        <p:spPr>
          <a:xfrm rot="5400000">
            <a:off x="1295484" y="2307292"/>
            <a:ext cx="311257" cy="12700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ector: Angulado 25">
            <a:extLst>
              <a:ext uri="{FF2B5EF4-FFF2-40B4-BE49-F238E27FC236}">
                <a16:creationId xmlns:a16="http://schemas.microsoft.com/office/drawing/2014/main" id="{2D1E3929-6366-4349-813A-C6B17EBD116C}"/>
              </a:ext>
            </a:extLst>
          </p:cNvPr>
          <p:cNvCxnSpPr>
            <a:endCxn id="15" idx="0"/>
          </p:cNvCxnSpPr>
          <p:nvPr/>
        </p:nvCxnSpPr>
        <p:spPr>
          <a:xfrm rot="16200000" flipH="1">
            <a:off x="1294340" y="3495052"/>
            <a:ext cx="307194" cy="6350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ector: Angulado 27">
            <a:extLst>
              <a:ext uri="{FF2B5EF4-FFF2-40B4-BE49-F238E27FC236}">
                <a16:creationId xmlns:a16="http://schemas.microsoft.com/office/drawing/2014/main" id="{F671A1DF-B133-48E2-8C63-295AD95B378E}"/>
              </a:ext>
            </a:extLst>
          </p:cNvPr>
          <p:cNvCxnSpPr>
            <a:cxnSpLocks/>
            <a:stCxn id="15" idx="2"/>
            <a:endCxn id="20" idx="1"/>
          </p:cNvCxnSpPr>
          <p:nvPr/>
        </p:nvCxnSpPr>
        <p:spPr>
          <a:xfrm rot="16200000" flipH="1">
            <a:off x="2005812" y="3958515"/>
            <a:ext cx="659764" cy="1769164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Retângulo 29">
            <a:extLst>
              <a:ext uri="{FF2B5EF4-FFF2-40B4-BE49-F238E27FC236}">
                <a16:creationId xmlns:a16="http://schemas.microsoft.com/office/drawing/2014/main" id="{B5BC1244-57DC-40CA-830C-7175F182529A}"/>
              </a:ext>
            </a:extLst>
          </p:cNvPr>
          <p:cNvSpPr/>
          <p:nvPr/>
        </p:nvSpPr>
        <p:spPr>
          <a:xfrm>
            <a:off x="2902224" y="193105"/>
            <a:ext cx="1258956" cy="86139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pt-BR" sz="1100" dirty="0"/>
              <a:t>Tratativa da divergência com o cliente</a:t>
            </a:r>
          </a:p>
        </p:txBody>
      </p:sp>
      <p:cxnSp>
        <p:nvCxnSpPr>
          <p:cNvPr id="32" name="Conector: Angulado 31">
            <a:extLst>
              <a:ext uri="{FF2B5EF4-FFF2-40B4-BE49-F238E27FC236}">
                <a16:creationId xmlns:a16="http://schemas.microsoft.com/office/drawing/2014/main" id="{6F517B59-0C7F-4AF9-9368-700072AA75FC}"/>
              </a:ext>
            </a:extLst>
          </p:cNvPr>
          <p:cNvCxnSpPr>
            <a:cxnSpLocks/>
            <a:stCxn id="20" idx="0"/>
            <a:endCxn id="30" idx="1"/>
          </p:cNvCxnSpPr>
          <p:nvPr/>
        </p:nvCxnSpPr>
        <p:spPr>
          <a:xfrm rot="16200000" flipV="1">
            <a:off x="1306810" y="2219216"/>
            <a:ext cx="4178117" cy="987288"/>
          </a:xfrm>
          <a:prstGeom prst="bentConnector4">
            <a:avLst>
              <a:gd name="adj1" fmla="val 44846"/>
              <a:gd name="adj2" fmla="val 123154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Conector: Angulado 33">
            <a:extLst>
              <a:ext uri="{FF2B5EF4-FFF2-40B4-BE49-F238E27FC236}">
                <a16:creationId xmlns:a16="http://schemas.microsoft.com/office/drawing/2014/main" id="{81587F7B-3749-4A8D-8C9F-8C55F1BF3956}"/>
              </a:ext>
            </a:extLst>
          </p:cNvPr>
          <p:cNvCxnSpPr>
            <a:cxnSpLocks/>
            <a:stCxn id="30" idx="3"/>
            <a:endCxn id="20" idx="2"/>
          </p:cNvCxnSpPr>
          <p:nvPr/>
        </p:nvCxnSpPr>
        <p:spPr>
          <a:xfrm flipH="1">
            <a:off x="3889512" y="623801"/>
            <a:ext cx="271668" cy="4920238"/>
          </a:xfrm>
          <a:prstGeom prst="bentConnector4">
            <a:avLst>
              <a:gd name="adj1" fmla="val -230490"/>
              <a:gd name="adj2" fmla="val 104646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CaixaDeTexto 40">
            <a:extLst>
              <a:ext uri="{FF2B5EF4-FFF2-40B4-BE49-F238E27FC236}">
                <a16:creationId xmlns:a16="http://schemas.microsoft.com/office/drawing/2014/main" id="{A38973E6-051E-4FEC-8598-3FF3FE3F93B6}"/>
              </a:ext>
            </a:extLst>
          </p:cNvPr>
          <p:cNvSpPr txBox="1"/>
          <p:nvPr/>
        </p:nvSpPr>
        <p:spPr>
          <a:xfrm>
            <a:off x="3863006" y="4511399"/>
            <a:ext cx="7288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Não</a:t>
            </a:r>
          </a:p>
        </p:txBody>
      </p:sp>
      <p:sp>
        <p:nvSpPr>
          <p:cNvPr id="42" name="CaixaDeTexto 41">
            <a:extLst>
              <a:ext uri="{FF2B5EF4-FFF2-40B4-BE49-F238E27FC236}">
                <a16:creationId xmlns:a16="http://schemas.microsoft.com/office/drawing/2014/main" id="{13F41ADB-AC52-46B5-B4D5-8A959D112B41}"/>
              </a:ext>
            </a:extLst>
          </p:cNvPr>
          <p:cNvSpPr txBox="1"/>
          <p:nvPr/>
        </p:nvSpPr>
        <p:spPr>
          <a:xfrm>
            <a:off x="2630553" y="4032430"/>
            <a:ext cx="180229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Retorna para correção</a:t>
            </a:r>
          </a:p>
        </p:txBody>
      </p:sp>
      <p:sp>
        <p:nvSpPr>
          <p:cNvPr id="47" name="Retângulo 46">
            <a:extLst>
              <a:ext uri="{FF2B5EF4-FFF2-40B4-BE49-F238E27FC236}">
                <a16:creationId xmlns:a16="http://schemas.microsoft.com/office/drawing/2014/main" id="{F059624B-54B0-49D1-A183-7F3CC720CCB9}"/>
              </a:ext>
            </a:extLst>
          </p:cNvPr>
          <p:cNvSpPr/>
          <p:nvPr/>
        </p:nvSpPr>
        <p:spPr>
          <a:xfrm>
            <a:off x="5658676" y="193105"/>
            <a:ext cx="1258956" cy="86139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pt-BR" sz="1100" dirty="0"/>
              <a:t>Definição da forma de crédito</a:t>
            </a:r>
          </a:p>
        </p:txBody>
      </p:sp>
      <p:sp>
        <p:nvSpPr>
          <p:cNvPr id="49" name="Retângulo 48">
            <a:extLst>
              <a:ext uri="{FF2B5EF4-FFF2-40B4-BE49-F238E27FC236}">
                <a16:creationId xmlns:a16="http://schemas.microsoft.com/office/drawing/2014/main" id="{47011F6B-876D-4C88-9849-E71018D1EA8D}"/>
              </a:ext>
            </a:extLst>
          </p:cNvPr>
          <p:cNvSpPr/>
          <p:nvPr/>
        </p:nvSpPr>
        <p:spPr>
          <a:xfrm>
            <a:off x="5532781" y="4714556"/>
            <a:ext cx="1258956" cy="86139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pt-BR" sz="1100" dirty="0"/>
              <a:t>Gera Crédito para o Cliente</a:t>
            </a:r>
          </a:p>
        </p:txBody>
      </p:sp>
      <p:cxnSp>
        <p:nvCxnSpPr>
          <p:cNvPr id="51" name="Conector: Angulado 50">
            <a:extLst>
              <a:ext uri="{FF2B5EF4-FFF2-40B4-BE49-F238E27FC236}">
                <a16:creationId xmlns:a16="http://schemas.microsoft.com/office/drawing/2014/main" id="{4CBEC12C-DF1C-463E-8B8E-6FFC7FB29F59}"/>
              </a:ext>
            </a:extLst>
          </p:cNvPr>
          <p:cNvCxnSpPr>
            <a:stCxn id="20" idx="3"/>
            <a:endCxn id="49" idx="1"/>
          </p:cNvCxnSpPr>
          <p:nvPr/>
        </p:nvCxnSpPr>
        <p:spPr>
          <a:xfrm flipV="1">
            <a:off x="4558747" y="5145252"/>
            <a:ext cx="974034" cy="27727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CaixaDeTexto 51">
            <a:extLst>
              <a:ext uri="{FF2B5EF4-FFF2-40B4-BE49-F238E27FC236}">
                <a16:creationId xmlns:a16="http://schemas.microsoft.com/office/drawing/2014/main" id="{79D1AF1B-7482-4B5B-9ACE-02E9E81A41DC}"/>
              </a:ext>
            </a:extLst>
          </p:cNvPr>
          <p:cNvSpPr txBox="1"/>
          <p:nvPr/>
        </p:nvSpPr>
        <p:spPr>
          <a:xfrm>
            <a:off x="4943056" y="4742284"/>
            <a:ext cx="7288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Sim</a:t>
            </a:r>
          </a:p>
        </p:txBody>
      </p:sp>
      <p:cxnSp>
        <p:nvCxnSpPr>
          <p:cNvPr id="53" name="Conector: Angulado 52">
            <a:extLst>
              <a:ext uri="{FF2B5EF4-FFF2-40B4-BE49-F238E27FC236}">
                <a16:creationId xmlns:a16="http://schemas.microsoft.com/office/drawing/2014/main" id="{751F2A20-CF70-42B4-8BDD-8A2AAA700F18}"/>
              </a:ext>
            </a:extLst>
          </p:cNvPr>
          <p:cNvCxnSpPr>
            <a:cxnSpLocks/>
            <a:stCxn id="49" idx="0"/>
            <a:endCxn id="47" idx="2"/>
          </p:cNvCxnSpPr>
          <p:nvPr/>
        </p:nvCxnSpPr>
        <p:spPr>
          <a:xfrm rot="5400000" flipH="1" flipV="1">
            <a:off x="4395176" y="2821579"/>
            <a:ext cx="3660060" cy="125895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Retângulo 55">
            <a:extLst>
              <a:ext uri="{FF2B5EF4-FFF2-40B4-BE49-F238E27FC236}">
                <a16:creationId xmlns:a16="http://schemas.microsoft.com/office/drawing/2014/main" id="{1A7590E1-A61A-4A84-B254-FD2D357C4B3B}"/>
              </a:ext>
            </a:extLst>
          </p:cNvPr>
          <p:cNvSpPr/>
          <p:nvPr/>
        </p:nvSpPr>
        <p:spPr>
          <a:xfrm>
            <a:off x="0" y="5742122"/>
            <a:ext cx="12470296" cy="1150094"/>
          </a:xfrm>
          <a:prstGeom prst="rect">
            <a:avLst/>
          </a:prstGeom>
          <a:solidFill>
            <a:srgbClr val="FFC000">
              <a:alpha val="2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57" name="CaixaDeTexto 56">
            <a:extLst>
              <a:ext uri="{FF2B5EF4-FFF2-40B4-BE49-F238E27FC236}">
                <a16:creationId xmlns:a16="http://schemas.microsoft.com/office/drawing/2014/main" id="{0ACE1824-9AB6-4ED9-8EBF-E4D1512C367D}"/>
              </a:ext>
            </a:extLst>
          </p:cNvPr>
          <p:cNvSpPr txBox="1"/>
          <p:nvPr/>
        </p:nvSpPr>
        <p:spPr>
          <a:xfrm>
            <a:off x="11025809" y="5787610"/>
            <a:ext cx="14444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Comercial</a:t>
            </a:r>
          </a:p>
        </p:txBody>
      </p:sp>
      <p:sp>
        <p:nvSpPr>
          <p:cNvPr id="59" name="Retângulo 58">
            <a:extLst>
              <a:ext uri="{FF2B5EF4-FFF2-40B4-BE49-F238E27FC236}">
                <a16:creationId xmlns:a16="http://schemas.microsoft.com/office/drawing/2014/main" id="{C0E33472-7543-4566-AC75-6D988E8544C3}"/>
              </a:ext>
            </a:extLst>
          </p:cNvPr>
          <p:cNvSpPr/>
          <p:nvPr/>
        </p:nvSpPr>
        <p:spPr>
          <a:xfrm>
            <a:off x="9528311" y="5846159"/>
            <a:ext cx="1258956" cy="86139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pt-BR" sz="1100" dirty="0"/>
              <a:t>Encerramento da Reclamação</a:t>
            </a:r>
          </a:p>
        </p:txBody>
      </p:sp>
      <p:cxnSp>
        <p:nvCxnSpPr>
          <p:cNvPr id="60" name="Conector: Angulado 59">
            <a:extLst>
              <a:ext uri="{FF2B5EF4-FFF2-40B4-BE49-F238E27FC236}">
                <a16:creationId xmlns:a16="http://schemas.microsoft.com/office/drawing/2014/main" id="{02AA5898-0ADB-4A06-A196-C23F57D4FE49}"/>
              </a:ext>
            </a:extLst>
          </p:cNvPr>
          <p:cNvCxnSpPr>
            <a:cxnSpLocks/>
            <a:stCxn id="47" idx="3"/>
            <a:endCxn id="59" idx="0"/>
          </p:cNvCxnSpPr>
          <p:nvPr/>
        </p:nvCxnSpPr>
        <p:spPr>
          <a:xfrm>
            <a:off x="6917632" y="623801"/>
            <a:ext cx="3240157" cy="5222358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CaixaDeTexto 62">
            <a:extLst>
              <a:ext uri="{FF2B5EF4-FFF2-40B4-BE49-F238E27FC236}">
                <a16:creationId xmlns:a16="http://schemas.microsoft.com/office/drawing/2014/main" id="{545BCDE0-C48F-4BDE-B178-48DEFE65D388}"/>
              </a:ext>
            </a:extLst>
          </p:cNvPr>
          <p:cNvSpPr txBox="1"/>
          <p:nvPr/>
        </p:nvSpPr>
        <p:spPr>
          <a:xfrm>
            <a:off x="-337933" y="386932"/>
            <a:ext cx="11424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Fase Atual</a:t>
            </a:r>
          </a:p>
        </p:txBody>
      </p:sp>
    </p:spTree>
    <p:extLst>
      <p:ext uri="{BB962C8B-B14F-4D97-AF65-F5344CB8AC3E}">
        <p14:creationId xmlns:p14="http://schemas.microsoft.com/office/powerpoint/2010/main" val="39840974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0AC49AE6-97CD-4742-9501-960946C5A64C}"/>
              </a:ext>
            </a:extLst>
          </p:cNvPr>
          <p:cNvSpPr/>
          <p:nvPr/>
        </p:nvSpPr>
        <p:spPr>
          <a:xfrm>
            <a:off x="0" y="4264"/>
            <a:ext cx="12470296" cy="1150094"/>
          </a:xfrm>
          <a:prstGeom prst="rect">
            <a:avLst/>
          </a:prstGeom>
          <a:solidFill>
            <a:srgbClr val="FFC000">
              <a:alpha val="2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5749E243-B7E7-448E-B164-5C1DEE786AB0}"/>
              </a:ext>
            </a:extLst>
          </p:cNvPr>
          <p:cNvSpPr txBox="1"/>
          <p:nvPr/>
        </p:nvSpPr>
        <p:spPr>
          <a:xfrm>
            <a:off x="11741427" y="18381"/>
            <a:ext cx="7288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SAC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A91BFD5E-318B-4A79-B5AA-09172B8247F7}"/>
              </a:ext>
            </a:extLst>
          </p:cNvPr>
          <p:cNvSpPr/>
          <p:nvPr/>
        </p:nvSpPr>
        <p:spPr>
          <a:xfrm>
            <a:off x="0" y="1154358"/>
            <a:ext cx="12470296" cy="1150094"/>
          </a:xfrm>
          <a:prstGeom prst="rect">
            <a:avLst/>
          </a:prstGeom>
          <a:solidFill>
            <a:srgbClr val="FFC000">
              <a:alpha val="2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D15A12B1-EC02-434C-B4DE-C1F208B3235F}"/>
              </a:ext>
            </a:extLst>
          </p:cNvPr>
          <p:cNvSpPr txBox="1"/>
          <p:nvPr/>
        </p:nvSpPr>
        <p:spPr>
          <a:xfrm>
            <a:off x="11025809" y="1154357"/>
            <a:ext cx="14444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EXPEDIÇÃO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FACFEECF-62B6-422B-AEDE-0BCAE0A66CC0}"/>
              </a:ext>
            </a:extLst>
          </p:cNvPr>
          <p:cNvSpPr/>
          <p:nvPr/>
        </p:nvSpPr>
        <p:spPr>
          <a:xfrm>
            <a:off x="0" y="2304452"/>
            <a:ext cx="12470296" cy="1150094"/>
          </a:xfrm>
          <a:prstGeom prst="rect">
            <a:avLst/>
          </a:prstGeom>
          <a:solidFill>
            <a:srgbClr val="FFC000">
              <a:alpha val="2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D51BD30B-8AE9-4FC6-A863-B8CAFC67A7CC}"/>
              </a:ext>
            </a:extLst>
          </p:cNvPr>
          <p:cNvSpPr txBox="1"/>
          <p:nvPr/>
        </p:nvSpPr>
        <p:spPr>
          <a:xfrm>
            <a:off x="11025809" y="2397051"/>
            <a:ext cx="14444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Revisão</a:t>
            </a:r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8CDBF14F-543B-4B22-991C-54FA3E32128E}"/>
              </a:ext>
            </a:extLst>
          </p:cNvPr>
          <p:cNvSpPr/>
          <p:nvPr/>
        </p:nvSpPr>
        <p:spPr>
          <a:xfrm>
            <a:off x="0" y="3454546"/>
            <a:ext cx="12470296" cy="1150094"/>
          </a:xfrm>
          <a:prstGeom prst="rect">
            <a:avLst/>
          </a:prstGeom>
          <a:solidFill>
            <a:srgbClr val="FFC000">
              <a:alpha val="2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EE0133A8-34E2-43FE-BBE9-A393FC72D6C6}"/>
              </a:ext>
            </a:extLst>
          </p:cNvPr>
          <p:cNvSpPr txBox="1"/>
          <p:nvPr/>
        </p:nvSpPr>
        <p:spPr>
          <a:xfrm>
            <a:off x="11025809" y="3547145"/>
            <a:ext cx="14444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PCP</a:t>
            </a:r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06A06D8A-15AB-4C78-9457-664169ACE827}"/>
              </a:ext>
            </a:extLst>
          </p:cNvPr>
          <p:cNvSpPr/>
          <p:nvPr/>
        </p:nvSpPr>
        <p:spPr>
          <a:xfrm>
            <a:off x="0" y="4604640"/>
            <a:ext cx="12470296" cy="1150094"/>
          </a:xfrm>
          <a:prstGeom prst="rect">
            <a:avLst/>
          </a:prstGeom>
          <a:solidFill>
            <a:srgbClr val="FFC000">
              <a:alpha val="2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5969CC6D-B76C-4ABE-938D-9F7CAF196928}"/>
              </a:ext>
            </a:extLst>
          </p:cNvPr>
          <p:cNvSpPr txBox="1"/>
          <p:nvPr/>
        </p:nvSpPr>
        <p:spPr>
          <a:xfrm>
            <a:off x="11025809" y="4697239"/>
            <a:ext cx="14444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Fiscal</a:t>
            </a:r>
          </a:p>
        </p:txBody>
      </p:sp>
      <p:cxnSp>
        <p:nvCxnSpPr>
          <p:cNvPr id="28" name="Conector: Angulado 27">
            <a:extLst>
              <a:ext uri="{FF2B5EF4-FFF2-40B4-BE49-F238E27FC236}">
                <a16:creationId xmlns:a16="http://schemas.microsoft.com/office/drawing/2014/main" id="{F671A1DF-B133-48E2-8C63-295AD95B378E}"/>
              </a:ext>
            </a:extLst>
          </p:cNvPr>
          <p:cNvCxnSpPr>
            <a:cxnSpLocks/>
            <a:stCxn id="37" idx="0"/>
            <a:endCxn id="38" idx="2"/>
          </p:cNvCxnSpPr>
          <p:nvPr/>
        </p:nvCxnSpPr>
        <p:spPr>
          <a:xfrm rot="5400000" flipH="1" flipV="1">
            <a:off x="-1387070" y="3445300"/>
            <a:ext cx="4801718" cy="12700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Retângulo 55">
            <a:extLst>
              <a:ext uri="{FF2B5EF4-FFF2-40B4-BE49-F238E27FC236}">
                <a16:creationId xmlns:a16="http://schemas.microsoft.com/office/drawing/2014/main" id="{1A7590E1-A61A-4A84-B254-FD2D357C4B3B}"/>
              </a:ext>
            </a:extLst>
          </p:cNvPr>
          <p:cNvSpPr/>
          <p:nvPr/>
        </p:nvSpPr>
        <p:spPr>
          <a:xfrm>
            <a:off x="0" y="5742122"/>
            <a:ext cx="12470296" cy="1150094"/>
          </a:xfrm>
          <a:prstGeom prst="rect">
            <a:avLst/>
          </a:prstGeom>
          <a:solidFill>
            <a:srgbClr val="FFC000">
              <a:alpha val="2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57" name="CaixaDeTexto 56">
            <a:extLst>
              <a:ext uri="{FF2B5EF4-FFF2-40B4-BE49-F238E27FC236}">
                <a16:creationId xmlns:a16="http://schemas.microsoft.com/office/drawing/2014/main" id="{0ACE1824-9AB6-4ED9-8EBF-E4D1512C367D}"/>
              </a:ext>
            </a:extLst>
          </p:cNvPr>
          <p:cNvSpPr txBox="1"/>
          <p:nvPr/>
        </p:nvSpPr>
        <p:spPr>
          <a:xfrm>
            <a:off x="11025809" y="5787610"/>
            <a:ext cx="14444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Comercial</a:t>
            </a:r>
          </a:p>
        </p:txBody>
      </p:sp>
      <p:sp>
        <p:nvSpPr>
          <p:cNvPr id="37" name="Retângulo 36">
            <a:extLst>
              <a:ext uri="{FF2B5EF4-FFF2-40B4-BE49-F238E27FC236}">
                <a16:creationId xmlns:a16="http://schemas.microsoft.com/office/drawing/2014/main" id="{CDDEE317-2927-489B-888A-150CC6FCA71E}"/>
              </a:ext>
            </a:extLst>
          </p:cNvPr>
          <p:cNvSpPr/>
          <p:nvPr/>
        </p:nvSpPr>
        <p:spPr>
          <a:xfrm>
            <a:off x="384311" y="5846159"/>
            <a:ext cx="1258956" cy="86139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pt-BR" sz="1100" dirty="0"/>
              <a:t>Define Gerar Credito</a:t>
            </a:r>
          </a:p>
        </p:txBody>
      </p:sp>
      <p:sp>
        <p:nvSpPr>
          <p:cNvPr id="38" name="Retângulo 37">
            <a:extLst>
              <a:ext uri="{FF2B5EF4-FFF2-40B4-BE49-F238E27FC236}">
                <a16:creationId xmlns:a16="http://schemas.microsoft.com/office/drawing/2014/main" id="{CEC5E353-BCF4-4836-A00A-A170CA798CDE}"/>
              </a:ext>
            </a:extLst>
          </p:cNvPr>
          <p:cNvSpPr/>
          <p:nvPr/>
        </p:nvSpPr>
        <p:spPr>
          <a:xfrm>
            <a:off x="384311" y="183050"/>
            <a:ext cx="1258956" cy="86139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pt-BR" sz="1100" dirty="0"/>
              <a:t>SAC solitita NF ao cliente</a:t>
            </a:r>
          </a:p>
        </p:txBody>
      </p:sp>
      <p:sp>
        <p:nvSpPr>
          <p:cNvPr id="43" name="Retângulo 42">
            <a:extLst>
              <a:ext uri="{FF2B5EF4-FFF2-40B4-BE49-F238E27FC236}">
                <a16:creationId xmlns:a16="http://schemas.microsoft.com/office/drawing/2014/main" id="{EA2F3638-E63D-4A40-B65B-56DC113875BB}"/>
              </a:ext>
            </a:extLst>
          </p:cNvPr>
          <p:cNvSpPr/>
          <p:nvPr/>
        </p:nvSpPr>
        <p:spPr>
          <a:xfrm>
            <a:off x="2160377" y="-967044"/>
            <a:ext cx="1258956" cy="86139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pt-BR" sz="1100" dirty="0"/>
              <a:t>Cliente envia NF</a:t>
            </a:r>
          </a:p>
        </p:txBody>
      </p:sp>
      <p:sp>
        <p:nvSpPr>
          <p:cNvPr id="44" name="Retângulo 43">
            <a:extLst>
              <a:ext uri="{FF2B5EF4-FFF2-40B4-BE49-F238E27FC236}">
                <a16:creationId xmlns:a16="http://schemas.microsoft.com/office/drawing/2014/main" id="{87A8F737-BAFF-4A76-9E32-5971494EF075}"/>
              </a:ext>
            </a:extLst>
          </p:cNvPr>
          <p:cNvSpPr/>
          <p:nvPr/>
        </p:nvSpPr>
        <p:spPr>
          <a:xfrm>
            <a:off x="3962674" y="189400"/>
            <a:ext cx="1258956" cy="86139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pt-BR" sz="1100" dirty="0"/>
              <a:t>Recebe a NF e envia</a:t>
            </a:r>
          </a:p>
          <a:p>
            <a:r>
              <a:rPr lang="pt-BR" sz="1100" dirty="0"/>
              <a:t>para Fiscal</a:t>
            </a:r>
          </a:p>
        </p:txBody>
      </p:sp>
      <p:cxnSp>
        <p:nvCxnSpPr>
          <p:cNvPr id="45" name="Conector: Angulado 44">
            <a:extLst>
              <a:ext uri="{FF2B5EF4-FFF2-40B4-BE49-F238E27FC236}">
                <a16:creationId xmlns:a16="http://schemas.microsoft.com/office/drawing/2014/main" id="{60A69D21-2073-4749-8662-01B2420D1680}"/>
              </a:ext>
            </a:extLst>
          </p:cNvPr>
          <p:cNvCxnSpPr>
            <a:cxnSpLocks/>
            <a:stCxn id="43" idx="3"/>
            <a:endCxn id="44" idx="0"/>
          </p:cNvCxnSpPr>
          <p:nvPr/>
        </p:nvCxnSpPr>
        <p:spPr>
          <a:xfrm>
            <a:off x="3419333" y="-536348"/>
            <a:ext cx="1172819" cy="725748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Conector: Angulado 45">
            <a:extLst>
              <a:ext uri="{FF2B5EF4-FFF2-40B4-BE49-F238E27FC236}">
                <a16:creationId xmlns:a16="http://schemas.microsoft.com/office/drawing/2014/main" id="{AA2C9725-2A73-4AD2-B1B3-C1AB98253A67}"/>
              </a:ext>
            </a:extLst>
          </p:cNvPr>
          <p:cNvCxnSpPr>
            <a:cxnSpLocks/>
            <a:stCxn id="38" idx="0"/>
            <a:endCxn id="43" idx="1"/>
          </p:cNvCxnSpPr>
          <p:nvPr/>
        </p:nvCxnSpPr>
        <p:spPr>
          <a:xfrm rot="5400000" flipH="1" flipV="1">
            <a:off x="1227384" y="-749943"/>
            <a:ext cx="719398" cy="1146588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Losango 49">
            <a:extLst>
              <a:ext uri="{FF2B5EF4-FFF2-40B4-BE49-F238E27FC236}">
                <a16:creationId xmlns:a16="http://schemas.microsoft.com/office/drawing/2014/main" id="{E1C2C50F-3BE4-44C2-ADF9-1ADAFC2AA713}"/>
              </a:ext>
            </a:extLst>
          </p:cNvPr>
          <p:cNvSpPr/>
          <p:nvPr/>
        </p:nvSpPr>
        <p:spPr>
          <a:xfrm>
            <a:off x="4369623" y="4748015"/>
            <a:ext cx="1338471" cy="742121"/>
          </a:xfrm>
          <a:prstGeom prst="diamon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900" dirty="0"/>
              <a:t>NF Romaneio OK?</a:t>
            </a:r>
          </a:p>
        </p:txBody>
      </p:sp>
      <p:sp>
        <p:nvSpPr>
          <p:cNvPr id="54" name="CaixaDeTexto 53">
            <a:extLst>
              <a:ext uri="{FF2B5EF4-FFF2-40B4-BE49-F238E27FC236}">
                <a16:creationId xmlns:a16="http://schemas.microsoft.com/office/drawing/2014/main" id="{6D32DA47-4E90-4CA8-8E66-B077C064062C}"/>
              </a:ext>
            </a:extLst>
          </p:cNvPr>
          <p:cNvSpPr txBox="1"/>
          <p:nvPr/>
        </p:nvSpPr>
        <p:spPr>
          <a:xfrm>
            <a:off x="5012353" y="4457496"/>
            <a:ext cx="7288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Não</a:t>
            </a:r>
          </a:p>
        </p:txBody>
      </p:sp>
      <p:sp>
        <p:nvSpPr>
          <p:cNvPr id="55" name="CaixaDeTexto 54">
            <a:extLst>
              <a:ext uri="{FF2B5EF4-FFF2-40B4-BE49-F238E27FC236}">
                <a16:creationId xmlns:a16="http://schemas.microsoft.com/office/drawing/2014/main" id="{EF5EE414-2D9B-40EC-AF44-429C4FBD15F7}"/>
              </a:ext>
            </a:extLst>
          </p:cNvPr>
          <p:cNvSpPr txBox="1"/>
          <p:nvPr/>
        </p:nvSpPr>
        <p:spPr>
          <a:xfrm>
            <a:off x="5248410" y="3093858"/>
            <a:ext cx="180229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Retorna para correção</a:t>
            </a:r>
          </a:p>
        </p:txBody>
      </p:sp>
      <p:sp>
        <p:nvSpPr>
          <p:cNvPr id="58" name="Retângulo 57">
            <a:extLst>
              <a:ext uri="{FF2B5EF4-FFF2-40B4-BE49-F238E27FC236}">
                <a16:creationId xmlns:a16="http://schemas.microsoft.com/office/drawing/2014/main" id="{ACC60B5F-6B29-4B87-824E-99406107D64B}"/>
              </a:ext>
            </a:extLst>
          </p:cNvPr>
          <p:cNvSpPr/>
          <p:nvPr/>
        </p:nvSpPr>
        <p:spPr>
          <a:xfrm>
            <a:off x="8169414" y="139202"/>
            <a:ext cx="1258956" cy="86139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pt-BR" sz="1100" dirty="0"/>
              <a:t>Definição da forma de crédito</a:t>
            </a:r>
          </a:p>
        </p:txBody>
      </p:sp>
      <p:sp>
        <p:nvSpPr>
          <p:cNvPr id="61" name="Retângulo 60">
            <a:extLst>
              <a:ext uri="{FF2B5EF4-FFF2-40B4-BE49-F238E27FC236}">
                <a16:creationId xmlns:a16="http://schemas.microsoft.com/office/drawing/2014/main" id="{AC251D67-B4E4-4AC5-91CC-8373A4C1E443}"/>
              </a:ext>
            </a:extLst>
          </p:cNvPr>
          <p:cNvSpPr/>
          <p:nvPr/>
        </p:nvSpPr>
        <p:spPr>
          <a:xfrm>
            <a:off x="8043519" y="4660653"/>
            <a:ext cx="1258956" cy="86139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pt-BR" sz="1100" dirty="0"/>
              <a:t>Gera Crédito para o Cliente</a:t>
            </a:r>
          </a:p>
        </p:txBody>
      </p:sp>
      <p:cxnSp>
        <p:nvCxnSpPr>
          <p:cNvPr id="62" name="Conector: Angulado 61">
            <a:extLst>
              <a:ext uri="{FF2B5EF4-FFF2-40B4-BE49-F238E27FC236}">
                <a16:creationId xmlns:a16="http://schemas.microsoft.com/office/drawing/2014/main" id="{6B968835-10B6-4C11-AE97-959D5E6F5411}"/>
              </a:ext>
            </a:extLst>
          </p:cNvPr>
          <p:cNvCxnSpPr>
            <a:stCxn id="50" idx="3"/>
            <a:endCxn id="61" idx="1"/>
          </p:cNvCxnSpPr>
          <p:nvPr/>
        </p:nvCxnSpPr>
        <p:spPr>
          <a:xfrm flipV="1">
            <a:off x="5708094" y="5091349"/>
            <a:ext cx="2335425" cy="27727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CaixaDeTexto 63">
            <a:extLst>
              <a:ext uri="{FF2B5EF4-FFF2-40B4-BE49-F238E27FC236}">
                <a16:creationId xmlns:a16="http://schemas.microsoft.com/office/drawing/2014/main" id="{B904A0CF-0B98-4902-9CF4-B41346F80442}"/>
              </a:ext>
            </a:extLst>
          </p:cNvPr>
          <p:cNvSpPr txBox="1"/>
          <p:nvPr/>
        </p:nvSpPr>
        <p:spPr>
          <a:xfrm>
            <a:off x="6092403" y="4688381"/>
            <a:ext cx="7288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Sim</a:t>
            </a:r>
          </a:p>
        </p:txBody>
      </p:sp>
      <p:cxnSp>
        <p:nvCxnSpPr>
          <p:cNvPr id="65" name="Conector: Angulado 64">
            <a:extLst>
              <a:ext uri="{FF2B5EF4-FFF2-40B4-BE49-F238E27FC236}">
                <a16:creationId xmlns:a16="http://schemas.microsoft.com/office/drawing/2014/main" id="{5B5FF6DC-68FB-4727-87F5-194F0358EFD1}"/>
              </a:ext>
            </a:extLst>
          </p:cNvPr>
          <p:cNvCxnSpPr>
            <a:cxnSpLocks/>
            <a:stCxn id="61" idx="0"/>
            <a:endCxn id="58" idx="2"/>
          </p:cNvCxnSpPr>
          <p:nvPr/>
        </p:nvCxnSpPr>
        <p:spPr>
          <a:xfrm rot="5400000" flipH="1" flipV="1">
            <a:off x="6905914" y="2767676"/>
            <a:ext cx="3660060" cy="125895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Retângulo 65">
            <a:extLst>
              <a:ext uri="{FF2B5EF4-FFF2-40B4-BE49-F238E27FC236}">
                <a16:creationId xmlns:a16="http://schemas.microsoft.com/office/drawing/2014/main" id="{18C4E054-7207-4BA3-9105-483D70AD4539}"/>
              </a:ext>
            </a:extLst>
          </p:cNvPr>
          <p:cNvSpPr/>
          <p:nvPr/>
        </p:nvSpPr>
        <p:spPr>
          <a:xfrm>
            <a:off x="9876182" y="5792256"/>
            <a:ext cx="1258956" cy="86139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pt-BR" sz="1100" dirty="0"/>
              <a:t>Encerramento da Reclamação</a:t>
            </a:r>
          </a:p>
        </p:txBody>
      </p:sp>
      <p:cxnSp>
        <p:nvCxnSpPr>
          <p:cNvPr id="67" name="Conector: Angulado 66">
            <a:extLst>
              <a:ext uri="{FF2B5EF4-FFF2-40B4-BE49-F238E27FC236}">
                <a16:creationId xmlns:a16="http://schemas.microsoft.com/office/drawing/2014/main" id="{B421DB64-1514-48DD-8384-748CD16A4EA5}"/>
              </a:ext>
            </a:extLst>
          </p:cNvPr>
          <p:cNvCxnSpPr>
            <a:cxnSpLocks/>
            <a:stCxn id="58" idx="3"/>
            <a:endCxn id="66" idx="0"/>
          </p:cNvCxnSpPr>
          <p:nvPr/>
        </p:nvCxnSpPr>
        <p:spPr>
          <a:xfrm>
            <a:off x="9428370" y="569898"/>
            <a:ext cx="1077290" cy="5222358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Conector: Angulado 67">
            <a:extLst>
              <a:ext uri="{FF2B5EF4-FFF2-40B4-BE49-F238E27FC236}">
                <a16:creationId xmlns:a16="http://schemas.microsoft.com/office/drawing/2014/main" id="{9CC18B0F-200E-4336-AACF-D67628AB93C2}"/>
              </a:ext>
            </a:extLst>
          </p:cNvPr>
          <p:cNvCxnSpPr>
            <a:cxnSpLocks/>
            <a:stCxn id="50" idx="0"/>
            <a:endCxn id="4" idx="2"/>
          </p:cNvCxnSpPr>
          <p:nvPr/>
        </p:nvCxnSpPr>
        <p:spPr>
          <a:xfrm rot="5400000" flipH="1" flipV="1">
            <a:off x="3840175" y="2353043"/>
            <a:ext cx="3593657" cy="1196289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Retângulo 68">
            <a:extLst>
              <a:ext uri="{FF2B5EF4-FFF2-40B4-BE49-F238E27FC236}">
                <a16:creationId xmlns:a16="http://schemas.microsoft.com/office/drawing/2014/main" id="{0EAB636F-5593-4792-92E9-63C8EEBCD67A}"/>
              </a:ext>
            </a:extLst>
          </p:cNvPr>
          <p:cNvSpPr/>
          <p:nvPr/>
        </p:nvSpPr>
        <p:spPr>
          <a:xfrm>
            <a:off x="5764971" y="193105"/>
            <a:ext cx="1258956" cy="86139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pt-BR" sz="1100" dirty="0"/>
              <a:t>Tratativa da divergência com o cliente</a:t>
            </a:r>
          </a:p>
        </p:txBody>
      </p:sp>
      <p:cxnSp>
        <p:nvCxnSpPr>
          <p:cNvPr id="70" name="Conector: Angulado 69">
            <a:extLst>
              <a:ext uri="{FF2B5EF4-FFF2-40B4-BE49-F238E27FC236}">
                <a16:creationId xmlns:a16="http://schemas.microsoft.com/office/drawing/2014/main" id="{01D014E2-1B4A-4ED2-8433-A5A349D84C91}"/>
              </a:ext>
            </a:extLst>
          </p:cNvPr>
          <p:cNvCxnSpPr>
            <a:cxnSpLocks/>
            <a:endCxn id="50" idx="1"/>
          </p:cNvCxnSpPr>
          <p:nvPr/>
        </p:nvCxnSpPr>
        <p:spPr>
          <a:xfrm rot="5400000">
            <a:off x="2449514" y="2978648"/>
            <a:ext cx="4060537" cy="220318"/>
          </a:xfrm>
          <a:prstGeom prst="bentConnector4">
            <a:avLst>
              <a:gd name="adj1" fmla="val 45431"/>
              <a:gd name="adj2" fmla="val 203759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557793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AF6C7CC-841B-49C9-8822-03025CBA7E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25019F6-B612-44F5-9DCF-FAAE559A16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B756FCB3-FC91-4B35-BAD8-ACD58E5236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963884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10205</TotalTime>
  <Words>150</Words>
  <Application>Microsoft Office PowerPoint</Application>
  <PresentationFormat>Widescreen</PresentationFormat>
  <Paragraphs>59</Paragraphs>
  <Slides>5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Julio Cesar Mansano</dc:creator>
  <cp:lastModifiedBy>Julio Cesar Mansano</cp:lastModifiedBy>
  <cp:revision>18</cp:revision>
  <dcterms:created xsi:type="dcterms:W3CDTF">2026-02-27T14:28:24Z</dcterms:created>
  <dcterms:modified xsi:type="dcterms:W3CDTF">2026-03-06T16:33:59Z</dcterms:modified>
</cp:coreProperties>
</file>